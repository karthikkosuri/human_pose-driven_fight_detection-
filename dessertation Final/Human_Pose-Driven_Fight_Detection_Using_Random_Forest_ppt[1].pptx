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4" r:id="rId4"/>
  </p:sldMasterIdLst>
  <p:sldIdLst>
    <p:sldId id="266" r:id="rId5"/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7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7193628-3863-44EC-AAE2-E193ECB92120}" v="41" dt="2025-07-04T10:03:33.72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7" d="100"/>
          <a:sy n="77" d="100"/>
        </p:scale>
        <p:origin x="91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5/10/relationships/revisionInfo" Target="revisionInfo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10CE90-6716-8A09-2F89-00B78E2B49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D9DCD3D-C1C6-9D66-91A2-71C88052EE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A03ED6-DEF8-8404-CB66-AE3F1FDB84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F424FA-9021-4AA6-8BC3-C20E84125BFE}" type="datetimeFigureOut">
              <a:rPr lang="en-US" smtClean="0"/>
              <a:t>04-Jul-25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9B4019-66FD-2BD7-468D-DBEA530A61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715C07-4A91-C86C-91C4-42468D6D01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2B222C-EFC7-4DF4-849F-D0E5BB5CCA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29274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D1A3E9-DEBE-C298-327B-E42B50A09E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0A66F7-8128-EEF9-5B86-14593209C2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B95FA2-667A-B80C-C1FD-25CE0FC649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F424FA-9021-4AA6-8BC3-C20E84125BFE}" type="datetimeFigureOut">
              <a:rPr lang="en-US" smtClean="0"/>
              <a:t>04-Jul-25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D43D96-A439-9004-A9B2-4A1ECA8C98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2C4878-5C77-14BC-99EF-7B4DB2B7DF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2B222C-EFC7-4DF4-849F-D0E5BB5CCA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5932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115C52-3225-7458-26B9-3F9B71F5FB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54D17B-696F-5B89-8F72-90574D77AF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95ACE5-FD96-EB0E-D10B-33E74957E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F424FA-9021-4AA6-8BC3-C20E84125BFE}" type="datetimeFigureOut">
              <a:rPr lang="en-US" smtClean="0"/>
              <a:t>04-Jul-25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53586C-591A-99F1-E93D-5F43B58502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8C5C2B-8E3E-FEA0-4519-645842A5EB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2B222C-EFC7-4DF4-849F-D0E5BB5CCA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63099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813A72-E0E6-854A-81D5-E2EC951915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CE57AF-F219-778F-2A75-D42113FA72B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AAB9279-6A33-6A61-CB41-F92E63E791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5ADBB3-3265-CC99-A8F6-76EA62651E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F424FA-9021-4AA6-8BC3-C20E84125BFE}" type="datetimeFigureOut">
              <a:rPr lang="en-US" smtClean="0"/>
              <a:t>04-Jul-25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6AD4C17-ACE1-FB0A-C388-634D8B5F68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8CFE2D-003E-2D82-186D-E8D5069B28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2B222C-EFC7-4DF4-849F-D0E5BB5CCA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5744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AFD95F-2CF6-BE97-E7F0-79B3EEE55A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F113FC-4B16-C196-4429-A5D91D5D61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BD7EACF-3465-2F19-AC3D-CD7316949F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2EEF6E3-1989-73D8-E915-A11153C72A3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1740376-5DEA-8415-64E8-C7D607AF628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26C8C53-3188-21EC-8398-CBF3E4C5E9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F424FA-9021-4AA6-8BC3-C20E84125BFE}" type="datetimeFigureOut">
              <a:rPr lang="en-US" smtClean="0"/>
              <a:t>04-Jul-25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8D639C7-54FA-D906-3DB6-983159276C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FF798F0-B2A5-74F6-2E62-F253D1008C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2B222C-EFC7-4DF4-849F-D0E5BB5CCA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88089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BC65FE-25D2-4CD5-D0CD-2AF90FB6B0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B529E7-2756-F4F9-0589-37150048F8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F424FA-9021-4AA6-8BC3-C20E84125BFE}" type="datetimeFigureOut">
              <a:rPr lang="en-US" smtClean="0"/>
              <a:t>04-Jul-25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2CB5860-43BD-14B2-B5C7-0D617A15AE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FEC6457-8E95-66B1-BEA3-0FC606CE3E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2B222C-EFC7-4DF4-849F-D0E5BB5CCA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37152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41C3902-EFDA-6989-A72C-57DA7F83E5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F424FA-9021-4AA6-8BC3-C20E84125BFE}" type="datetimeFigureOut">
              <a:rPr lang="en-US" smtClean="0"/>
              <a:t>04-Jul-25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E8B5FDA-0BD1-FB69-EBE7-1D91DB3154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BFD23D-170C-6C50-C339-DFF3DD9FC0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2B222C-EFC7-4DF4-849F-D0E5BB5CCA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6886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AEC7C6-1452-BC53-E42C-CB2857B820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F268B0-A602-5B41-AA26-4EE6C9F75B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E3E0DED-C82F-E372-20A9-A4B60CA67F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3ED9F8-BCB7-D49C-5884-EC1F5981BF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F424FA-9021-4AA6-8BC3-C20E84125BFE}" type="datetimeFigureOut">
              <a:rPr lang="en-US" smtClean="0"/>
              <a:t>04-Jul-25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88BBCC-2370-44FF-B26A-3ADC02B6C4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A63616-F834-9DB8-2C6D-912460C7A6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2B222C-EFC7-4DF4-849F-D0E5BB5CCA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00889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80844F-3D19-B0FA-85EA-7B170497ED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2A583ED-9C2A-35F6-DE52-87717A314AE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86B424-772B-EC71-379D-41206CEAED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16C9B29-D90B-E811-983E-6596E9F587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F424FA-9021-4AA6-8BC3-C20E84125BFE}" type="datetimeFigureOut">
              <a:rPr lang="en-US" smtClean="0"/>
              <a:t>04-Jul-25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7B1F171-82E2-81E7-C3BB-D07B2AF7D9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F4CFF72-CD70-251F-6AA9-FAE5C3C391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2B222C-EFC7-4DF4-849F-D0E5BB5CCA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11742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2A13D3-174F-DA44-0EF6-3278B1FEB7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B698A4C-805F-CBD4-A1F2-2D3D2B146BE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E6E0A2-4561-2C0A-73D7-3ED9A95B4E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F424FA-9021-4AA6-8BC3-C20E84125BFE}" type="datetimeFigureOut">
              <a:rPr lang="en-US" smtClean="0"/>
              <a:t>04-Jul-25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8894D2-A798-25A4-9249-9D1F06F3FE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88BEDD-C2D7-BB0B-3A17-6ABB522C28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2B222C-EFC7-4DF4-849F-D0E5BB5CCA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96138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E6CB68E-1DD6-81D2-6CB5-D66BD4DF834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00CACA-F033-0A32-C2B3-A585D9A43D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42EAB5-002A-A41D-EFE3-9877053725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F424FA-9021-4AA6-8BC3-C20E84125BFE}" type="datetimeFigureOut">
              <a:rPr lang="en-US" smtClean="0"/>
              <a:t>04-Jul-25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970E1B-6A72-A3C2-3F77-CFCFF8ABE9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3CE8E8-7BB0-8C11-8A95-FEDA31A2B6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2B222C-EFC7-4DF4-849F-D0E5BB5CCA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7251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DF24140-7412-951A-65B0-A4FF8699C2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364343-3EC1-7CD5-BFFA-FF2D38BDE6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B85F9E-1E80-3B2F-79B8-E2956771764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F424FA-9021-4AA6-8BC3-C20E84125BFE}" type="datetimeFigureOut">
              <a:rPr lang="en-US" smtClean="0"/>
              <a:t>04-Jul-25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5AEEC3-7B30-A641-FF47-AA61DE3F4F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845D4E-24C9-16D9-8ACD-1D5494C23A3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2B222C-EFC7-4DF4-849F-D0E5BB5CCA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77785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5" r:id="rId1"/>
    <p:sldLayoutId id="2147483696" r:id="rId2"/>
    <p:sldLayoutId id="2147483697" r:id="rId3"/>
    <p:sldLayoutId id="2147483698" r:id="rId4"/>
    <p:sldLayoutId id="2147483699" r:id="rId5"/>
    <p:sldLayoutId id="2147483700" r:id="rId6"/>
    <p:sldLayoutId id="2147483701" r:id="rId7"/>
    <p:sldLayoutId id="2147483702" r:id="rId8"/>
    <p:sldLayoutId id="2147483703" r:id="rId9"/>
    <p:sldLayoutId id="2147483704" r:id="rId10"/>
    <p:sldLayoutId id="214748370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88;p1">
            <a:extLst>
              <a:ext uri="{FF2B5EF4-FFF2-40B4-BE49-F238E27FC236}">
                <a16:creationId xmlns:a16="http://schemas.microsoft.com/office/drawing/2014/main" id="{0B47A7FE-4B60-74F6-3B1D-D7D3528CAF17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0" y="928454"/>
            <a:ext cx="12192000" cy="20137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 sz="1800" dirty="0">
              <a:latin typeface="Book Antiqua"/>
              <a:ea typeface="Book Antiqua"/>
              <a:cs typeface="Book Antiqua"/>
              <a:sym typeface="Book Antiqua"/>
            </a:endParaRPr>
          </a:p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 sz="1800" dirty="0">
              <a:latin typeface="Book Antiqua"/>
              <a:ea typeface="Book Antiqua"/>
              <a:cs typeface="Book Antiqua"/>
              <a:sym typeface="Book Antiqua"/>
            </a:endParaRPr>
          </a:p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 dirty="0">
                <a:latin typeface="Book Antiqua"/>
                <a:ea typeface="Book Antiqua"/>
                <a:cs typeface="Book Antiqua"/>
                <a:sym typeface="Book Antiqua"/>
              </a:rPr>
              <a:t>IEEE International Conference on Information, Implementation, and Innovation in Technology 2025</a:t>
            </a:r>
            <a:endParaRPr dirty="0"/>
          </a:p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sz="2800" b="1" dirty="0">
              <a:solidFill>
                <a:srgbClr val="0070C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sz="2800" b="1" dirty="0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IEEE I2ITCON 2025</a:t>
            </a:r>
            <a:endParaRPr dirty="0"/>
          </a:p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 sz="1600" b="1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en-US" sz="1600" b="1" dirty="0"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r>
              <a:rPr lang="en-US" sz="1600" b="1" baseline="30000" dirty="0">
                <a:latin typeface="Times New Roman"/>
                <a:ea typeface="Times New Roman"/>
                <a:cs typeface="Times New Roman"/>
                <a:sym typeface="Times New Roman"/>
              </a:rPr>
              <a:t>th</a:t>
            </a:r>
            <a:r>
              <a:rPr lang="en-US" sz="1600" b="1" dirty="0">
                <a:latin typeface="Times New Roman"/>
                <a:ea typeface="Times New Roman"/>
                <a:cs typeface="Times New Roman"/>
                <a:sym typeface="Times New Roman"/>
              </a:rPr>
              <a:t> &amp; 5</a:t>
            </a:r>
            <a:r>
              <a:rPr lang="en-US" sz="1600" b="1" baseline="30000" dirty="0">
                <a:latin typeface="Times New Roman"/>
                <a:ea typeface="Times New Roman"/>
                <a:cs typeface="Times New Roman"/>
                <a:sym typeface="Times New Roman"/>
              </a:rPr>
              <a:t>th</a:t>
            </a:r>
            <a:r>
              <a:rPr lang="en-US" sz="1600" b="1" dirty="0">
                <a:latin typeface="Times New Roman"/>
                <a:ea typeface="Times New Roman"/>
                <a:cs typeface="Times New Roman"/>
                <a:sym typeface="Times New Roman"/>
              </a:rPr>
              <a:t> July 2025</a:t>
            </a:r>
            <a:endParaRPr sz="1600" b="1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" name="Google Shape;89;p1">
            <a:extLst>
              <a:ext uri="{FF2B5EF4-FFF2-40B4-BE49-F238E27FC236}">
                <a16:creationId xmlns:a16="http://schemas.microsoft.com/office/drawing/2014/main" id="{BCB71AEC-9A53-AD57-57A3-F941439EFFCF}"/>
              </a:ext>
            </a:extLst>
          </p:cNvPr>
          <p:cNvSpPr txBox="1"/>
          <p:nvPr/>
        </p:nvSpPr>
        <p:spPr>
          <a:xfrm>
            <a:off x="3352800" y="4422333"/>
            <a:ext cx="5486400" cy="16003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dirty="0">
                <a:solidFill>
                  <a:schemeClr val="dk1"/>
                </a:solidFill>
                <a:latin typeface="Times New Roman"/>
                <a:cs typeface="Times New Roman"/>
                <a:sym typeface="Times New Roman"/>
              </a:rPr>
              <a:t>K B S Karthik Veera </a:t>
            </a:r>
            <a:r>
              <a:rPr lang="en-US" sz="2000" dirty="0" err="1">
                <a:solidFill>
                  <a:schemeClr val="dk1"/>
                </a:solidFill>
                <a:latin typeface="Times New Roman"/>
                <a:cs typeface="Times New Roman"/>
                <a:sym typeface="Times New Roman"/>
              </a:rPr>
              <a:t>Prajnaik</a:t>
            </a:r>
            <a:endParaRPr dirty="0"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Designation</a:t>
            </a:r>
            <a:endParaRPr sz="2000" b="1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lvl="0" algn="ctr">
              <a:buClr>
                <a:srgbClr val="000000"/>
              </a:buClr>
              <a:buSzPts val="2000"/>
            </a:pPr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Lovely Professional University </a:t>
            </a:r>
            <a:r>
              <a:rPr lang="en-US" sz="2000" b="1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 Phagwara, India</a:t>
            </a:r>
            <a:endParaRPr sz="2000" b="1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r>
              <a:rPr lang="en-US" sz="1800" b="0" i="0" u="none" strike="noStrike" cap="none" baseline="30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</a:t>
            </a:r>
            <a:r>
              <a:rPr lang="en-US" sz="18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July 2025</a:t>
            </a:r>
            <a:endParaRPr sz="18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1" name="Google Shape;90;p1" descr="C:\Users\IENOVO\Downloads\I²IT with Name.jpg">
            <a:extLst>
              <a:ext uri="{FF2B5EF4-FFF2-40B4-BE49-F238E27FC236}">
                <a16:creationId xmlns:a16="http://schemas.microsoft.com/office/drawing/2014/main" id="{E4AD2001-6C75-E4EB-9E05-ECAD13A10BD8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1233" y="16000"/>
            <a:ext cx="1665027" cy="1091821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91;p1">
            <a:extLst>
              <a:ext uri="{FF2B5EF4-FFF2-40B4-BE49-F238E27FC236}">
                <a16:creationId xmlns:a16="http://schemas.microsoft.com/office/drawing/2014/main" id="{0423940A-0FC5-3ECD-B198-4A7EB7011348}"/>
              </a:ext>
            </a:extLst>
          </p:cNvPr>
          <p:cNvSpPr txBox="1"/>
          <p:nvPr/>
        </p:nvSpPr>
        <p:spPr>
          <a:xfrm>
            <a:off x="101233" y="2776718"/>
            <a:ext cx="12192000" cy="129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 algn="ctr">
              <a:lnSpc>
                <a:spcPct val="90000"/>
              </a:lnSpc>
              <a:buClr>
                <a:schemeClr val="dk1"/>
              </a:buClr>
              <a:buSzPts val="2400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Human Pose-Driven Fight Detection Using Random Forest and LSTM Architectures</a:t>
            </a:r>
            <a:br>
              <a:rPr lang="en-US" sz="2400" b="0" i="0" u="none" strike="noStrike" cap="none" dirty="0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br>
              <a:rPr lang="en-US" sz="2400" b="0" i="0" u="none" strike="noStrike" cap="none" dirty="0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(Paper ID:2135)</a:t>
            </a: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3" name="Google Shape;92;p1" descr="IEEE Pune Section – HFRC IEEE Awards">
            <a:extLst>
              <a:ext uri="{FF2B5EF4-FFF2-40B4-BE49-F238E27FC236}">
                <a16:creationId xmlns:a16="http://schemas.microsoft.com/office/drawing/2014/main" id="{55528CBA-12CA-096B-9071-E367ADB5C7CD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14285" t="29318" r="19815" b="24023"/>
          <a:stretch/>
        </p:blipFill>
        <p:spPr>
          <a:xfrm>
            <a:off x="10118558" y="122758"/>
            <a:ext cx="1869952" cy="87830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6797087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C9A644-A327-E0D0-DC37-FB7B81F905E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96462" y="527538"/>
            <a:ext cx="10199076" cy="1960691"/>
          </a:xfrm>
        </p:spPr>
        <p:txBody>
          <a:bodyPr>
            <a:noAutofit/>
          </a:bodyPr>
          <a:lstStyle/>
          <a:p>
            <a:r>
              <a:rPr 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Human Pose-Driven Fight Detection Using Random Forest and LSTM Architectures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2773E5F-04D5-9AD0-B65F-007969EC40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73074" y="3176544"/>
            <a:ext cx="4292353" cy="1126283"/>
          </a:xfrm>
        </p:spPr>
        <p:txBody>
          <a:bodyPr>
            <a:norm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1400" b="1" baseline="30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</a:t>
            </a:r>
            <a:r>
              <a:rPr 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K B S Karthik Veera </a:t>
            </a:r>
            <a:r>
              <a:rPr lang="en-US" sz="1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sz="1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rajnaik</a:t>
            </a:r>
            <a:r>
              <a:rPr 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School of Computer Science and Engineering Lovely Professional University Phagwara, India. rajendrasrinivas1971@gmail.com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D12E7C5-385F-4C7B-34DF-041134AA5913}"/>
              </a:ext>
            </a:extLst>
          </p:cNvPr>
          <p:cNvSpPr txBox="1"/>
          <p:nvPr/>
        </p:nvSpPr>
        <p:spPr>
          <a:xfrm>
            <a:off x="6777237" y="3176544"/>
            <a:ext cx="364817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1400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nd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Chirag Sharma Professor, School of Computer Science and Engineering Lovely Professional University Phagwara, India. Chiragsharma1510@gmail.com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CFB6924-7D1F-6506-4B56-00752371D18D}"/>
              </a:ext>
            </a:extLst>
          </p:cNvPr>
          <p:cNvSpPr txBox="1"/>
          <p:nvPr/>
        </p:nvSpPr>
        <p:spPr>
          <a:xfrm>
            <a:off x="1473074" y="4581574"/>
            <a:ext cx="3761295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sz="1400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rd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Tanya Nagpal Professor , School of Computer Science and Engineering Lovely Professional University Phagwara, India. Tanya.nagpal1989@gmail.com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AD91E0D-118C-B03C-A9D2-F3F6F7D1D3BA}"/>
              </a:ext>
            </a:extLst>
          </p:cNvPr>
          <p:cNvSpPr txBox="1"/>
          <p:nvPr/>
        </p:nvSpPr>
        <p:spPr>
          <a:xfrm>
            <a:off x="6528605" y="4581574"/>
            <a:ext cx="4145437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sz="1400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Shubham Mahajan Professor , School of Computer Science and Engineering Amity University Gurgaon , India. mahajanshubham2232579@gmail.com</a:t>
            </a:r>
          </a:p>
        </p:txBody>
      </p:sp>
    </p:spTree>
    <p:extLst>
      <p:ext uri="{BB962C8B-B14F-4D97-AF65-F5344CB8AC3E}">
        <p14:creationId xmlns:p14="http://schemas.microsoft.com/office/powerpoint/2010/main" val="14939596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EA4507-DBE3-FD07-0733-BBD92C10C4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50500" y="500689"/>
            <a:ext cx="3039208" cy="892175"/>
          </a:xfrm>
        </p:spPr>
        <p:txBody>
          <a:bodyPr/>
          <a:lstStyle/>
          <a:p>
            <a:r>
              <a:rPr lang="en-US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987B716D-7707-7B0A-2051-899261249A23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838200" y="1392864"/>
            <a:ext cx="10263808" cy="48013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Ensuring public safety through real-time detection of violent behavior is increasingly vital in crowded environments like streets, schools, and stations.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Traditional surveillance systems depend heavily on human monitoring, which is time-consuming, error-prone, and limited in scalability.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Visual features based on pixel intensity or background motion often misclassify actions due to occlusion, lighting, or crowd density.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his research leverages Media-Pipe, a Google-developed pose estimation framework that extracts human body landmarks with high precision.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By using these skeletal key points, we focus on understanding body posture and movement rather than color or motion.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Our model aims to automate fight detection using Random Forest, LSTM, and Bi-LSTM classifiers trained on pose features only.</a:t>
            </a:r>
          </a:p>
        </p:txBody>
      </p:sp>
    </p:spTree>
    <p:extLst>
      <p:ext uri="{BB962C8B-B14F-4D97-AF65-F5344CB8AC3E}">
        <p14:creationId xmlns:p14="http://schemas.microsoft.com/office/powerpoint/2010/main" val="24920517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A36116-D574-D32D-0D0B-7E7184E8CB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25715" y="637686"/>
            <a:ext cx="5140569" cy="795460"/>
          </a:xfrm>
        </p:spPr>
        <p:txBody>
          <a:bodyPr/>
          <a:lstStyle/>
          <a:p>
            <a:r>
              <a:rPr lang="en-US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Description:</a:t>
            </a:r>
            <a:endParaRPr lang="en-US" u="sng"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65668938-AD9D-ECA8-23AA-D8BDB189375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89007" y="1433146"/>
            <a:ext cx="10213986" cy="41975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Manual video surveillance is inefficient and cannot consistently detect violent activity, especially in crowded or dim environments.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Existing automated systems rely on raw video pixels or motion vectors, which often result in false alarms or missed incidents.</a:t>
            </a: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Violent behaviors like punching or pushing may appear like casual gestures in pixel-based systems.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lack of spatiotemporal reasoning and body dynamics understanding is a key limitation in many approaches.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Real-time intervention is critical, and delay in detection can lead to serious outcomes.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Therefore, we propose an AI-driven system that processes pose-based data to accurately detect aggressive behavior.</a:t>
            </a:r>
          </a:p>
        </p:txBody>
      </p:sp>
    </p:spTree>
    <p:extLst>
      <p:ext uri="{BB962C8B-B14F-4D97-AF65-F5344CB8AC3E}">
        <p14:creationId xmlns:p14="http://schemas.microsoft.com/office/powerpoint/2010/main" val="3077092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7D60BB-0CC0-2E53-1709-85A4AC002D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18008" y="391503"/>
            <a:ext cx="5355981" cy="1032852"/>
          </a:xfrm>
        </p:spPr>
        <p:txBody>
          <a:bodyPr/>
          <a:lstStyle/>
          <a:p>
            <a:r>
              <a:rPr lang="en-US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 of research:</a:t>
            </a:r>
            <a:endParaRPr lang="en-US" u="sng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E3B33E7-9D8F-804C-DFCF-BB0A43B2305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25248" y="1424355"/>
            <a:ext cx="10341499" cy="46130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develop a deep learning-based fight detection system using only pose key points extracted from video frames.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 Media-Pipe Pose to generate a set of 33 landmarks per person, capturing upper and lower body motion.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Convert these spatial pose landmarks into time-series features for effective training of sequential models like LSTM.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Compare multiple models—Random Forest, LSTM, and Bi-LSTM—for accuracy, loss, and robustness on limited data.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Evaluate system performance in terms of real-time applicability, minimal false positives, and ease of deployment.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Recommend an optimal model architecture that balances accuracy and computational efficiency for practical surveillance systems.</a:t>
            </a:r>
          </a:p>
        </p:txBody>
      </p:sp>
    </p:spTree>
    <p:extLst>
      <p:ext uri="{BB962C8B-B14F-4D97-AF65-F5344CB8AC3E}">
        <p14:creationId xmlns:p14="http://schemas.microsoft.com/office/powerpoint/2010/main" val="5957268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8B128D-0D9B-C623-E36E-F768D4593E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44261" y="479426"/>
            <a:ext cx="7303477" cy="857006"/>
          </a:xfrm>
        </p:spPr>
        <p:txBody>
          <a:bodyPr/>
          <a:lstStyle/>
          <a:p>
            <a:r>
              <a:rPr lang="en-US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and Feature Extraction:</a:t>
            </a:r>
            <a:endParaRPr lang="en-US" u="sng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58EB9C7-A5BE-A71F-19B9-E0DB1ECF191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30549" y="1486032"/>
            <a:ext cx="10330899" cy="38859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dataset consists of 300 labeled video clips (150 fight and 150 non-fight), each around 2 seconds long.</a:t>
            </a:r>
          </a:p>
          <a:p>
            <a:pPr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Media-Pipe Pose framework was employed to extract 33 key points (x, y, z, and visibility) per person in each frame.</a:t>
            </a:r>
          </a:p>
          <a:p>
            <a:pPr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rom each video, 30 frames were sampled and preprocessed uniformly to ensure consistent data structure.</a:t>
            </a:r>
          </a:p>
          <a:p>
            <a:pPr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Each frame contributed 132 pose features, resulting in a fixed-length feature sequence per video sample</a:t>
            </a: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 normalization was performed to reduce scale bias, and padding handled missing frame data.</a:t>
            </a:r>
          </a:p>
          <a:p>
            <a:pPr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This structured and clean input allowed better training for time-series models while avoiding pixel noise.</a:t>
            </a:r>
          </a:p>
        </p:txBody>
      </p:sp>
    </p:spTree>
    <p:extLst>
      <p:ext uri="{BB962C8B-B14F-4D97-AF65-F5344CB8AC3E}">
        <p14:creationId xmlns:p14="http://schemas.microsoft.com/office/powerpoint/2010/main" val="11129938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F3C11D-4319-8B19-784F-CFEB522868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461840"/>
            <a:ext cx="12192000" cy="1325563"/>
          </a:xfrm>
        </p:spPr>
        <p:txBody>
          <a:bodyPr/>
          <a:lstStyle/>
          <a:p>
            <a:pPr algn="ctr"/>
            <a:r>
              <a:rPr lang="en-US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Models used:</a:t>
            </a:r>
            <a:endParaRPr lang="en-US" u="sng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EE659D1-1581-3591-ACB2-CB961F3EACC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39261" y="1690688"/>
            <a:ext cx="11113477" cy="3366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Random Forest was used as a classical ML baseline due to its effectiveness on structured data and low training time.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LSTM (Long Short-Term Memory) was chosen to capture the temporal evolution of body movements across frames.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Bi-LSTM (Bidirectional LSTM) further improves temporal learning by analyzing sequences in both forward and backward directions.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TensorFlow and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Keras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were used for implementing deep learning models, with early stopping and dropout layers to prevent overfitting.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models were trained over 30 epochs with batch sizes of 16 and 32, using Adam optimizer and ReLU activation.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Media-Pipe pose sequences served as the input, converting raw movement into informative, model-friendly data.</a:t>
            </a:r>
          </a:p>
        </p:txBody>
      </p:sp>
    </p:spTree>
    <p:extLst>
      <p:ext uri="{BB962C8B-B14F-4D97-AF65-F5344CB8AC3E}">
        <p14:creationId xmlns:p14="http://schemas.microsoft.com/office/powerpoint/2010/main" val="21274000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0BE5EA-8E8A-F98D-941F-B89618AD76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78667"/>
            <a:ext cx="12192000" cy="1046285"/>
          </a:xfrm>
        </p:spPr>
        <p:txBody>
          <a:bodyPr>
            <a:noAutofit/>
          </a:bodyPr>
          <a:lstStyle/>
          <a:p>
            <a:pPr algn="ctr"/>
            <a:r>
              <a:rPr lang="en-US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Model’s Comparison:</a:t>
            </a:r>
            <a:endParaRPr lang="en-US" u="sng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4845335-FEEC-4755-F959-0034338DBB0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27758" y="4171009"/>
            <a:ext cx="10936484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LSTM achieved the highest validation accuracy, effectively learning from the temporal structure of pose features.</a:t>
            </a: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Random Forest performed well on training data but showed overfitting, lacking the ability to model frame-by-frame transitions.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Bi-LSTM had excellent training accuracy, but generalization was limited, likely due to dataset size and increased model complexity.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Media-Pipe features proved effective across all models, offering a cleaner and more meaningful representation than pixel or optical flow features.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comparison confirmed that LSTM offers the best balance between accuracy, simplicity, and generalization.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B291C9A2-05A9-6F8A-5D6E-B771281DFAB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78479327"/>
              </p:ext>
            </p:extLst>
          </p:nvPr>
        </p:nvGraphicFramePr>
        <p:xfrm>
          <a:off x="2399094" y="1443389"/>
          <a:ext cx="7393812" cy="25047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4604">
                  <a:extLst>
                    <a:ext uri="{9D8B030D-6E8A-4147-A177-3AD203B41FA5}">
                      <a16:colId xmlns:a16="http://schemas.microsoft.com/office/drawing/2014/main" val="982037013"/>
                    </a:ext>
                  </a:extLst>
                </a:gridCol>
                <a:gridCol w="2464604">
                  <a:extLst>
                    <a:ext uri="{9D8B030D-6E8A-4147-A177-3AD203B41FA5}">
                      <a16:colId xmlns:a16="http://schemas.microsoft.com/office/drawing/2014/main" val="1945356936"/>
                    </a:ext>
                  </a:extLst>
                </a:gridCol>
                <a:gridCol w="2464604">
                  <a:extLst>
                    <a:ext uri="{9D8B030D-6E8A-4147-A177-3AD203B41FA5}">
                      <a16:colId xmlns:a16="http://schemas.microsoft.com/office/drawing/2014/main" val="2406120555"/>
                    </a:ext>
                  </a:extLst>
                </a:gridCol>
              </a:tblGrid>
              <a:tr h="828760">
                <a:tc>
                  <a:txBody>
                    <a:bodyPr/>
                    <a:lstStyle/>
                    <a:p>
                      <a:r>
                        <a:rPr lang="en-US" dirty="0"/>
                        <a:t>               </a:t>
                      </a: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Training Accuracy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Validation Accuracy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56252980"/>
                  </a:ext>
                </a:extLst>
              </a:tr>
              <a:tr h="562495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Random Forest </a:t>
                      </a:r>
                    </a:p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Classifier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0.95(95%)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0.63(63%)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4119189"/>
                  </a:ext>
                </a:extLst>
              </a:tr>
              <a:tr h="517974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LSTM 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0.7016(70.16%)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0.75(75%)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85000454"/>
                  </a:ext>
                </a:extLst>
              </a:tr>
              <a:tr h="517974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Bi-LSTM 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0.6179(61.79%)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0.65(65%)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559347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626457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4D6D07-FAE0-5750-F9B6-7C6339C502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16523"/>
            <a:ext cx="12191999" cy="1077653"/>
          </a:xfrm>
        </p:spPr>
        <p:txBody>
          <a:bodyPr>
            <a:noAutofit/>
          </a:bodyPr>
          <a:lstStyle/>
          <a:p>
            <a:pPr algn="ctr"/>
            <a:r>
              <a:rPr lang="en-US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and Accuracy:</a:t>
            </a:r>
            <a:endParaRPr lang="en-US" u="sng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9E93A29-5BA4-5CFD-AE90-786DBEC6174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59380" y="4849758"/>
            <a:ext cx="5244705" cy="15881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LSTM had highest validation accuracy (75%)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Bi-LSTM: slight overfitting due to complexity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Random Forest: good performance but less dynamic</a:t>
            </a:r>
          </a:p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4172BBD-7C5B-9345-0CCA-45A732D2B5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9351" y="1639397"/>
            <a:ext cx="8109468" cy="2873013"/>
          </a:xfrm>
          <a:prstGeom prst="rect">
            <a:avLst/>
          </a:prstGeom>
        </p:spPr>
      </p:pic>
      <p:sp>
        <p:nvSpPr>
          <p:cNvPr id="3" name="Rectangle 1">
            <a:extLst>
              <a:ext uri="{FF2B5EF4-FFF2-40B4-BE49-F238E27FC236}">
                <a16:creationId xmlns:a16="http://schemas.microsoft.com/office/drawing/2014/main" id="{C9AD78A9-CE83-B997-7C09-B395E4E5EA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72299" y="4849758"/>
            <a:ext cx="5244705" cy="13388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Media-Pipe features reduced false positives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Loss minimized with proper temporal modeling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LSTM output closely matched ground truth</a:t>
            </a:r>
          </a:p>
        </p:txBody>
      </p:sp>
    </p:spTree>
    <p:extLst>
      <p:ext uri="{BB962C8B-B14F-4D97-AF65-F5344CB8AC3E}">
        <p14:creationId xmlns:p14="http://schemas.microsoft.com/office/powerpoint/2010/main" val="40734499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9C62D9-30F5-7107-780C-243DA9DE6E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24964"/>
            <a:ext cx="12191999" cy="1280890"/>
          </a:xfrm>
        </p:spPr>
        <p:txBody>
          <a:bodyPr/>
          <a:lstStyle/>
          <a:p>
            <a:pPr algn="ctr"/>
            <a:r>
              <a:rPr lang="en-US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Conclusion:</a:t>
            </a:r>
            <a:endParaRPr lang="en-US" u="sng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50E4E44-B919-78A8-66B5-B4CA33D8D9A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459523" y="1695032"/>
            <a:ext cx="9773050" cy="41975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Pose-based detection using Media-Pipe is an effective, lightweight alternative to motion or pixel-based systems.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Among the three models tested, LSTM provided the best performance on unseen data, balancing accuracy and robustness.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Random Forest, while fast and interpretable, lacked temporal modeling, limiting its real-time use.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Bi-LSTM offered slightly improved learning capacity but required more data to avoid overfitting.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Media-Pipe's reliable key point extraction enabled our models to focus on core movement patterns, reducing background noise issues.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system has real-world potential in surveillance environments to automatically flag violent actions.</a:t>
            </a:r>
          </a:p>
        </p:txBody>
      </p:sp>
    </p:spTree>
    <p:extLst>
      <p:ext uri="{BB962C8B-B14F-4D97-AF65-F5344CB8AC3E}">
        <p14:creationId xmlns:p14="http://schemas.microsoft.com/office/powerpoint/2010/main" val="4410781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E5784C-6F95-6756-B5C2-3B7F52F50A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33165"/>
            <a:ext cx="12191999" cy="1280890"/>
          </a:xfrm>
        </p:spPr>
        <p:txBody>
          <a:bodyPr/>
          <a:lstStyle/>
          <a:p>
            <a:pPr algn="ctr"/>
            <a:r>
              <a:rPr lang="en-US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Scope:</a:t>
            </a:r>
            <a:endParaRPr lang="en-US" u="sng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E06A008-6C9C-8393-EE5D-AC60F01891D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47817" y="1745718"/>
            <a:ext cx="10096363" cy="3366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Increase dataset size with more real-world fight and non-fight scenarios to improve model robustness.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 Media-Pipe Holistic to integrate pose, face, and hand landmarks for richer feature extraction.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Explore CNN-LSTM and Graph Neural Network architectures to further improve spatiotemporal understanding.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Incorporate environmental context like audio or crowd density to increase decision accuracy.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Optimize models for edge deployment on CCTV cameras or embedded systems with real-time alert systems.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Collaborate with law enforcement agencies to test and deploy the system in public safety infrastructure</a:t>
            </a:r>
          </a:p>
        </p:txBody>
      </p:sp>
    </p:spTree>
    <p:extLst>
      <p:ext uri="{BB962C8B-B14F-4D97-AF65-F5344CB8AC3E}">
        <p14:creationId xmlns:p14="http://schemas.microsoft.com/office/powerpoint/2010/main" val="19631360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F92E72D-5AEE-DA30-622E-AA0083B6DC2F}"/>
              </a:ext>
            </a:extLst>
          </p:cNvPr>
          <p:cNvSpPr txBox="1"/>
          <p:nvPr/>
        </p:nvSpPr>
        <p:spPr>
          <a:xfrm>
            <a:off x="3826151" y="2898086"/>
            <a:ext cx="4539698" cy="10618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6300" b="1" dirty="0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Thank You!!</a:t>
            </a:r>
            <a:endParaRPr lang="en-US" sz="63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D5C6C5F-2466-F738-FEAC-8341656DB6B7}"/>
              </a:ext>
            </a:extLst>
          </p:cNvPr>
          <p:cNvSpPr txBox="1"/>
          <p:nvPr/>
        </p:nvSpPr>
        <p:spPr>
          <a:xfrm>
            <a:off x="3118402" y="5124199"/>
            <a:ext cx="6097656" cy="1221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buClr>
                <a:srgbClr val="000000"/>
              </a:buClr>
              <a:buSzPts val="2000"/>
            </a:pPr>
            <a:r>
              <a:rPr lang="en-US" sz="2400" dirty="0">
                <a:solidFill>
                  <a:schemeClr val="dk1"/>
                </a:solidFill>
                <a:latin typeface="Times New Roman"/>
                <a:cs typeface="Times New Roman"/>
                <a:sym typeface="Times New Roman"/>
              </a:rPr>
              <a:t>K B S Karthik </a:t>
            </a:r>
            <a:r>
              <a:rPr lang="en-US" sz="2400" dirty="0" err="1">
                <a:solidFill>
                  <a:schemeClr val="dk1"/>
                </a:solidFill>
                <a:latin typeface="Times New Roman"/>
                <a:cs typeface="Times New Roman"/>
                <a:sym typeface="Times New Roman"/>
              </a:rPr>
              <a:t>veera</a:t>
            </a:r>
            <a:r>
              <a:rPr lang="en-US" sz="2400" dirty="0">
                <a:solidFill>
                  <a:schemeClr val="dk1"/>
                </a:solidFill>
                <a:latin typeface="Times New Roman"/>
                <a:cs typeface="Times New Roman"/>
                <a:sym typeface="Times New Roman"/>
              </a:rPr>
              <a:t> </a:t>
            </a:r>
            <a:r>
              <a:rPr lang="en-US" sz="2400" dirty="0" err="1">
                <a:solidFill>
                  <a:schemeClr val="dk1"/>
                </a:solidFill>
                <a:latin typeface="Times New Roman"/>
                <a:cs typeface="Times New Roman"/>
                <a:sym typeface="Times New Roman"/>
              </a:rPr>
              <a:t>prajnaik</a:t>
            </a:r>
            <a:endParaRPr lang="en-US" sz="2400" dirty="0"/>
          </a:p>
          <a:p>
            <a:pPr marL="0" marR="0" lvl="0" indent="0" algn="ctr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endParaRPr lang="en-US" sz="2400" b="0" i="0" u="none" strike="noStrike" cap="none" dirty="0">
              <a:solidFill>
                <a:srgbClr val="26262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000"/>
              <a:buFont typeface="Times New Roman"/>
              <a:buNone/>
            </a:pPr>
            <a:r>
              <a:rPr lang="en-US" sz="1800" b="1" i="0" u="none" strike="noStrike" cap="none" dirty="0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Mobile No:</a:t>
            </a:r>
            <a:r>
              <a:rPr lang="en-US" sz="1800" b="0" i="0" u="none" strike="noStrike" cap="none" dirty="0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+91 </a:t>
            </a:r>
            <a:r>
              <a:rPr lang="en-US" dirty="0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9573705162</a:t>
            </a:r>
            <a:endParaRPr lang="en-US" sz="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Calibri"/>
              <a:buNone/>
            </a:pPr>
            <a:endParaRPr lang="en-US" sz="1000" b="0" i="0" u="none" strike="noStrike" cap="none" dirty="0">
              <a:solidFill>
                <a:srgbClr val="26262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lvl="0" algn="ctr">
              <a:lnSpc>
                <a:spcPct val="70000"/>
              </a:lnSpc>
              <a:buClr>
                <a:srgbClr val="262626"/>
              </a:buClr>
              <a:buSzPts val="3000"/>
            </a:pPr>
            <a:r>
              <a:rPr lang="en-US" sz="1800" b="1" i="0" u="none" strike="noStrike" cap="none" dirty="0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Mail ID:</a:t>
            </a:r>
            <a:r>
              <a:rPr lang="en-US" sz="1800" b="0" i="0" u="none" strike="noStrike" cap="none" dirty="0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rajendrasrinivas1971@gmail.com</a:t>
            </a:r>
            <a:endParaRPr lang="en-US" sz="1800" i="0" u="none" strike="noStrike" cap="none" dirty="0">
              <a:solidFill>
                <a:srgbClr val="26262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7880656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047A34214D4074BAA109AAD14D8E895" ma:contentTypeVersion="5" ma:contentTypeDescription="Create a new document." ma:contentTypeScope="" ma:versionID="9c37af50c450de63e548ce6897d80c46">
  <xsd:schema xmlns:xsd="http://www.w3.org/2001/XMLSchema" xmlns:xs="http://www.w3.org/2001/XMLSchema" xmlns:p="http://schemas.microsoft.com/office/2006/metadata/properties" xmlns:ns3="9f454670-756b-426d-a6fb-734dcf80fe09" targetNamespace="http://schemas.microsoft.com/office/2006/metadata/properties" ma:root="true" ma:fieldsID="e8027b97c7e288490c52eb78d5b6cfe1" ns3:_="">
    <xsd:import namespace="9f454670-756b-426d-a6fb-734dcf80fe09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f454670-756b-426d-a6fb-734dcf80fe09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D0EED66D-A337-49A5-8EFC-9E41AA7C2700}">
  <ds:schemaRefs>
    <ds:schemaRef ds:uri="http://purl.org/dc/dcmitype/"/>
    <ds:schemaRef ds:uri="http://purl.org/dc/terms/"/>
    <ds:schemaRef ds:uri="http://purl.org/dc/elements/1.1/"/>
    <ds:schemaRef ds:uri="http://www.w3.org/XML/1998/namespac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9f454670-756b-426d-a6fb-734dcf80fe09"/>
    <ds:schemaRef ds:uri="http://schemas.microsoft.com/office/2006/metadata/properties"/>
  </ds:schemaRefs>
</ds:datastoreItem>
</file>

<file path=customXml/itemProps2.xml><?xml version="1.0" encoding="utf-8"?>
<ds:datastoreItem xmlns:ds="http://schemas.openxmlformats.org/officeDocument/2006/customXml" ds:itemID="{EA2A0D0C-3451-4210-9D7F-7EEB3386661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888D9F7-CA6C-49EB-B7CF-53168FDF475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f454670-756b-426d-a6fb-734dcf80fe0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381</TotalTime>
  <Words>1152</Words>
  <Application>Microsoft Office PowerPoint</Application>
  <PresentationFormat>Widescreen</PresentationFormat>
  <Paragraphs>107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Arial</vt:lpstr>
      <vt:lpstr>Book Antiqua</vt:lpstr>
      <vt:lpstr>Calibri</vt:lpstr>
      <vt:lpstr>Calibri Light</vt:lpstr>
      <vt:lpstr>Quattrocento Sans</vt:lpstr>
      <vt:lpstr>Times New Roman</vt:lpstr>
      <vt:lpstr>Office Theme</vt:lpstr>
      <vt:lpstr>PowerPoint Presentation</vt:lpstr>
      <vt:lpstr>Human Pose-Driven Fight Detection Using Random Forest and LSTM Architectures</vt:lpstr>
      <vt:lpstr>Introduction</vt:lpstr>
      <vt:lpstr>Problem Description:</vt:lpstr>
      <vt:lpstr>Objectives of research:</vt:lpstr>
      <vt:lpstr>Dataset and Feature Extraction:</vt:lpstr>
      <vt:lpstr>Machine Learning Models used:</vt:lpstr>
      <vt:lpstr>Model’s Comparison:</vt:lpstr>
      <vt:lpstr>Results and Accuracy:</vt:lpstr>
      <vt:lpstr>Conclusion:</vt:lpstr>
      <vt:lpstr>Future Scope: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Karthik kosuri</dc:creator>
  <cp:lastModifiedBy>Karthik kosuri</cp:lastModifiedBy>
  <cp:revision>14</cp:revision>
  <dcterms:created xsi:type="dcterms:W3CDTF">2025-07-01T04:45:27Z</dcterms:created>
  <dcterms:modified xsi:type="dcterms:W3CDTF">2025-07-04T12:08:06Z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0x0101003047A34214D4074BAA109AAD14D8E895</vt:lpwstr>
  </property>
</Properties>
</file>